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5"/>
    <p:sldMasterId id="2147483681" r:id="rId6"/>
    <p:sldMasterId id="214748368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DC2318-177B-4C49-B3AC-17D679542D53}">
  <a:tblStyle styleId="{05DC2318-177B-4C49-B3AC-17D679542D5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-italic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0" Type="http://schemas.openxmlformats.org/officeDocument/2006/relationships/font" Target="fonts/Roboto-boldItalic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bf815f396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bbf815f396_2_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bf815f396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bbf815f396_2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bf815f396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bbf815f396_2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bf815f396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bbf815f396_2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bf815f396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3bbf815f396_2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bf815f396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bbf815f396_2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bf815f396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g3bbf815f396_2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bf815f396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g3bbf815f396_2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c0585aa1f_5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bc0585aa1f_5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bbf815f396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g3bbf815f396_2_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bbf815f396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g3bbf815f396_2_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bf815f396_2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g3bbf815f396_2_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bf815f39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g3bbf815f396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bf815f396_2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g3bbf815f396_2_1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bf815f396_2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g3bbf815f396_2_1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bf815f396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g3bbf815f396_2_1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bbf815f396_2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g3bbf815f396_2_1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bbf815f396_2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5" name="Google Shape;385;g3bbf815f396_2_1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0" name="Google Shape;80;p17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96" name="Google Shape;96;p20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2" name="Google Shape;132;p2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4" name="Google Shape;144;p2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50" name="Google Shape;150;p2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51" name="Google Shape;151;p2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7" name="Google Shape;157;p3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8" name="Google Shape;158;p30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9" name="Google Shape;159;p30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0" name="Google Shape;160;p3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71" name="Google Shape;171;p32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2" name="Google Shape;172;p3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3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3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9" name="Google Shape;179;p3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4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/>
          <p:nvPr>
            <p:ph type="title"/>
          </p:nvPr>
        </p:nvSpPr>
        <p:spPr>
          <a:xfrm>
            <a:off x="623888" y="436187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Agentic AI Hackathon: Building Intelligent Agents with IBM Granite and LangFlow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36"/>
          <p:cNvSpPr txBox="1"/>
          <p:nvPr>
            <p:ph idx="1" type="body"/>
          </p:nvPr>
        </p:nvSpPr>
        <p:spPr>
          <a:xfrm>
            <a:off x="761047" y="292774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28600" lvl="0" marL="45720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" sz="2400"/>
              <a:t>AI-Assisted Medication Adherence Monitoring System</a:t>
            </a:r>
            <a:endParaRPr b="1" i="1"/>
          </a:p>
        </p:txBody>
      </p:sp>
      <p:pic>
        <p:nvPicPr>
          <p:cNvPr id="200" name="Google Shape;20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48" y="4736638"/>
            <a:ext cx="8640305" cy="23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/>
          <p:nvPr/>
        </p:nvSpPr>
        <p:spPr>
          <a:xfrm>
            <a:off x="517968" y="3319027"/>
            <a:ext cx="8096846" cy="149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37"/>
          <p:cNvSpPr txBox="1"/>
          <p:nvPr/>
        </p:nvSpPr>
        <p:spPr>
          <a:xfrm>
            <a:off x="1861457" y="914400"/>
            <a:ext cx="5476296" cy="203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600"/>
              <a:buFont typeface="Times New Roman"/>
              <a:buNone/>
            </a:pPr>
            <a:r>
              <a:rPr b="1" i="0" lang="en" sz="2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 </a:t>
            </a:r>
            <a:r>
              <a:rPr b="1" lang="en" sz="260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Undecided</a:t>
            </a:r>
            <a:r>
              <a:rPr b="1" i="0" lang="en" sz="2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7"/>
          <p:cNvSpPr txBox="1"/>
          <p:nvPr/>
        </p:nvSpPr>
        <p:spPr>
          <a:xfrm>
            <a:off x="1642843" y="1117879"/>
            <a:ext cx="5569805" cy="3386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</a:pPr>
            <a:r>
              <a:rPr b="1" i="0" lang="en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b="1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8" name="Google Shape;208;p37"/>
          <p:cNvGraphicFramePr/>
          <p:nvPr/>
        </p:nvGraphicFramePr>
        <p:xfrm>
          <a:off x="1860627" y="15407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{05DC2318-177B-4C49-B3AC-17D679542D53}</a:tableStyleId>
              </a:tblPr>
              <a:tblGrid>
                <a:gridCol w="1191825"/>
                <a:gridCol w="1410300"/>
                <a:gridCol w="1410300"/>
                <a:gridCol w="1410300"/>
              </a:tblGrid>
              <a:tr h="747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TEAM MEMBER NAME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Recent Passport Photo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</a:tr>
              <a:tr h="7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Nitin Harsur</a:t>
                      </a:r>
                      <a:endParaRPr b="1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nitin.ad24@bmsce.ac.in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9972029193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</a:tr>
              <a:tr h="776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Varshitha B</a:t>
                      </a:r>
                      <a:endParaRPr b="1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varshithab.cs23@bmsce.ac.in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6364436314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7"/>
                    </a:solidFill>
                  </a:tcPr>
                </a:tc>
              </a:tr>
              <a:tr h="7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Vidyashree V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vidyashreev.cs24@bmsce.ac.in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8147433511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pic>
        <p:nvPicPr>
          <p:cNvPr id="209" name="Google Shape;20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48" y="4736638"/>
            <a:ext cx="8640305" cy="232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1799" y="3904113"/>
            <a:ext cx="572906" cy="642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1800" y="3073050"/>
            <a:ext cx="572900" cy="64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61800" y="2342575"/>
            <a:ext cx="572900" cy="64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/>
          <p:nvPr/>
        </p:nvSpPr>
        <p:spPr>
          <a:xfrm>
            <a:off x="603500" y="753975"/>
            <a:ext cx="74112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Challenge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Managing daily medication is difficult for many patients, especially those with chronic illnesses, as they often face: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Missed or delayed doses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due to forgetfulness, busy schedules, or lack of reminders.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 prescriptions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multiple medicines taken at different times increase confusion and errors.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monitoring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doctors and caregivers cannot track whether medicines are taken correctly.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 patient engagement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patients may not understand the importance of strict adherence.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an intelligent system to track and support medication use, patients experience poor treatment outcomes, increased health risks, and frequent hospital visits.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38"/>
          <p:cNvSpPr txBox="1"/>
          <p:nvPr/>
        </p:nvSpPr>
        <p:spPr>
          <a:xfrm>
            <a:off x="603792" y="335768"/>
            <a:ext cx="2420129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 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9" name="Google Shape;21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48" y="4736638"/>
            <a:ext cx="8640305" cy="23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9"/>
          <p:cNvSpPr/>
          <p:nvPr/>
        </p:nvSpPr>
        <p:spPr>
          <a:xfrm>
            <a:off x="243671" y="3376952"/>
            <a:ext cx="1746042" cy="1416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39"/>
          <p:cNvSpPr txBox="1"/>
          <p:nvPr/>
        </p:nvSpPr>
        <p:spPr>
          <a:xfrm>
            <a:off x="754380" y="1188077"/>
            <a:ext cx="7701600" cy="3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propose an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Agentic AI-based Medication Adherence Monitoring System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that: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Accepts adherence information as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or uploaded documents</a:t>
            </a:r>
            <a:b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Agentic AI reasoning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analyze adherence behavior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Identifies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levels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(Low / Medium / High)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Tracks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adherence trends over time</a:t>
            </a:r>
            <a:b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empathetic, assistive reminders</a:t>
            </a:r>
            <a:b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 adherence memory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vector databases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non-clinical, bias-free responses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IBM Granite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9"/>
          <p:cNvSpPr txBox="1"/>
          <p:nvPr/>
        </p:nvSpPr>
        <p:spPr>
          <a:xfrm>
            <a:off x="669941" y="555857"/>
            <a:ext cx="3404393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 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7" name="Google Shape;22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48" y="4736638"/>
            <a:ext cx="8640305" cy="23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0"/>
          <p:cNvSpPr/>
          <p:nvPr/>
        </p:nvSpPr>
        <p:spPr>
          <a:xfrm>
            <a:off x="243671" y="3376952"/>
            <a:ext cx="1746042" cy="1416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40"/>
          <p:cNvSpPr txBox="1"/>
          <p:nvPr/>
        </p:nvSpPr>
        <p:spPr>
          <a:xfrm>
            <a:off x="775830" y="1010627"/>
            <a:ext cx="7701600" cy="3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propose an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Agentic AI-based Medication Adherence Monitoring System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that: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Medication non-adherence is a common healthcare issue.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Missed doses lead to poor treatment outcomes.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identification of adherence risk is required.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Adherence trends need continuous monitoring.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Patients need empathetic, non-judgmental support.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Agentic AI enables intelligent behavior analysis.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 memory improves personalized assistance.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40"/>
          <p:cNvSpPr txBox="1"/>
          <p:nvPr/>
        </p:nvSpPr>
        <p:spPr>
          <a:xfrm>
            <a:off x="775831" y="393705"/>
            <a:ext cx="4122326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of project 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5" name="Google Shape;23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48" y="4736638"/>
            <a:ext cx="8640305" cy="23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/>
          <p:nvPr/>
        </p:nvSpPr>
        <p:spPr>
          <a:xfrm>
            <a:off x="243671" y="3376952"/>
            <a:ext cx="1746042" cy="1416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41"/>
          <p:cNvSpPr txBox="1"/>
          <p:nvPr/>
        </p:nvSpPr>
        <p:spPr>
          <a:xfrm>
            <a:off x="754380" y="1188077"/>
            <a:ext cx="7701600" cy="28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Patients managing long-term medication routines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Caregivers and family members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Healthcare support teams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Public health monitoring programs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Digital health platforms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41"/>
          <p:cNvSpPr txBox="1"/>
          <p:nvPr/>
        </p:nvSpPr>
        <p:spPr>
          <a:xfrm>
            <a:off x="775831" y="393705"/>
            <a:ext cx="4122326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user of project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48" y="4736638"/>
            <a:ext cx="8640305" cy="23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2"/>
          <p:cNvSpPr txBox="1"/>
          <p:nvPr/>
        </p:nvSpPr>
        <p:spPr>
          <a:xfrm>
            <a:off x="582930" y="363474"/>
            <a:ext cx="5342382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Used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42"/>
          <p:cNvSpPr txBox="1"/>
          <p:nvPr/>
        </p:nvSpPr>
        <p:spPr>
          <a:xfrm>
            <a:off x="582925" y="993850"/>
            <a:ext cx="7886700" cy="26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LangFlow Platform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watsonx.ai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Granite Model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Astra DB (Vector Database)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RAG (Retrieval-Augmented Generation)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Agentic AI Architecture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0" name="Google Shape;25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48" y="4736638"/>
            <a:ext cx="8640305" cy="23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/>
          <p:nvPr/>
        </p:nvSpPr>
        <p:spPr>
          <a:xfrm>
            <a:off x="914043" y="356695"/>
            <a:ext cx="4833372" cy="528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600"/>
              <a:buFont typeface="Times New Roman"/>
              <a:buNone/>
            </a:pPr>
            <a:r>
              <a:rPr b="1" i="0" lang="en" sz="26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b="1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6" name="Google Shape;25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48" y="4736638"/>
            <a:ext cx="8640305" cy="23253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3"/>
          <p:cNvSpPr txBox="1"/>
          <p:nvPr/>
        </p:nvSpPr>
        <p:spPr>
          <a:xfrm>
            <a:off x="806850" y="830800"/>
            <a:ext cx="7753200" cy="3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Agentic AI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not just a chatbot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Separates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reasoning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multi-agent design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Maintains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 adherence memory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vector databases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multi-modal inputs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(text + documents)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Granite-guarded outputs ensure: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Ethical AI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Non-diagnostic behavior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Bias-free responses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for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assistive healthcare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not clinical decision-making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/>
          <p:nvPr/>
        </p:nvSpPr>
        <p:spPr>
          <a:xfrm>
            <a:off x="1376934" y="2219706"/>
            <a:ext cx="6400800" cy="1080135"/>
          </a:xfrm>
          <a:custGeom>
            <a:rect b="b" l="l" r="r" t="t"/>
            <a:pathLst>
              <a:path extrusionOk="0" h="1440180" w="6400800">
                <a:moveTo>
                  <a:pt x="45720" y="914400"/>
                </a:moveTo>
                <a:lnTo>
                  <a:pt x="1234440" y="914400"/>
                </a:lnTo>
                <a:moveTo>
                  <a:pt x="1280160" y="1440180"/>
                </a:moveTo>
                <a:lnTo>
                  <a:pt x="1280160" y="960120"/>
                </a:lnTo>
                <a:moveTo>
                  <a:pt x="1280160" y="868680"/>
                </a:moveTo>
                <a:lnTo>
                  <a:pt x="1280160" y="0"/>
                </a:lnTo>
                <a:moveTo>
                  <a:pt x="3840480" y="1440180"/>
                </a:moveTo>
                <a:lnTo>
                  <a:pt x="3840480" y="960120"/>
                </a:lnTo>
                <a:moveTo>
                  <a:pt x="3840480" y="868680"/>
                </a:moveTo>
                <a:lnTo>
                  <a:pt x="3840480" y="0"/>
                </a:lnTo>
                <a:moveTo>
                  <a:pt x="1325880" y="914400"/>
                </a:moveTo>
                <a:lnTo>
                  <a:pt x="2514600" y="914400"/>
                </a:lnTo>
                <a:moveTo>
                  <a:pt x="2606040" y="914400"/>
                </a:moveTo>
                <a:lnTo>
                  <a:pt x="3794760" y="914400"/>
                </a:lnTo>
                <a:moveTo>
                  <a:pt x="3886200" y="914400"/>
                </a:moveTo>
                <a:lnTo>
                  <a:pt x="5074920" y="914400"/>
                </a:lnTo>
                <a:moveTo>
                  <a:pt x="5166360" y="914400"/>
                </a:moveTo>
                <a:lnTo>
                  <a:pt x="6355080" y="914400"/>
                </a:lnTo>
                <a:moveTo>
                  <a:pt x="2560320" y="1440180"/>
                </a:moveTo>
                <a:lnTo>
                  <a:pt x="2560320" y="960120"/>
                </a:lnTo>
                <a:moveTo>
                  <a:pt x="2560320" y="868680"/>
                </a:moveTo>
                <a:lnTo>
                  <a:pt x="2560320" y="457200"/>
                </a:lnTo>
                <a:moveTo>
                  <a:pt x="5120640" y="1440180"/>
                </a:moveTo>
                <a:lnTo>
                  <a:pt x="5120640" y="960120"/>
                </a:lnTo>
                <a:moveTo>
                  <a:pt x="5120640" y="868680"/>
                </a:moveTo>
                <a:lnTo>
                  <a:pt x="5120640" y="457200"/>
                </a:lnTo>
                <a:moveTo>
                  <a:pt x="6400800" y="1440180"/>
                </a:moveTo>
                <a:lnTo>
                  <a:pt x="6400800" y="960120"/>
                </a:lnTo>
                <a:moveTo>
                  <a:pt x="6400800" y="868680"/>
                </a:moveTo>
                <a:lnTo>
                  <a:pt x="6400800" y="0"/>
                </a:lnTo>
                <a:moveTo>
                  <a:pt x="0" y="1440180"/>
                </a:moveTo>
                <a:lnTo>
                  <a:pt x="0" y="960120"/>
                </a:lnTo>
                <a:moveTo>
                  <a:pt x="0" y="868680"/>
                </a:moveTo>
                <a:lnTo>
                  <a:pt x="0" y="457200"/>
                </a:lnTo>
              </a:path>
            </a:pathLst>
          </a:custGeom>
          <a:noFill/>
          <a:ln cap="flat" cmpd="sng" w="9525">
            <a:solidFill>
              <a:srgbClr val="4848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4"/>
          <p:cNvSpPr/>
          <p:nvPr/>
        </p:nvSpPr>
        <p:spPr>
          <a:xfrm>
            <a:off x="1331214" y="2871216"/>
            <a:ext cx="91440" cy="68580"/>
          </a:xfrm>
          <a:custGeom>
            <a:rect b="b" l="l" r="r" t="t"/>
            <a:pathLst>
              <a:path extrusionOk="0" h="91440" w="91440">
                <a:moveTo>
                  <a:pt x="45720" y="91440"/>
                </a:moveTo>
                <a:cubicBezTo>
                  <a:pt x="70972" y="91440"/>
                  <a:pt x="91440" y="70972"/>
                  <a:pt x="91440" y="45720"/>
                </a:cubicBezTo>
                <a:cubicBezTo>
                  <a:pt x="91440" y="20467"/>
                  <a:pt x="70972" y="0"/>
                  <a:pt x="45720" y="0"/>
                </a:cubicBezTo>
                <a:cubicBezTo>
                  <a:pt x="20467" y="0"/>
                  <a:pt x="0" y="20467"/>
                  <a:pt x="0" y="45720"/>
                </a:cubicBezTo>
                <a:cubicBezTo>
                  <a:pt x="0" y="70972"/>
                  <a:pt x="20467" y="91440"/>
                  <a:pt x="45720" y="91440"/>
                </a:cubicBezTo>
              </a:path>
            </a:pathLst>
          </a:custGeom>
          <a:solidFill>
            <a:srgbClr val="EDF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4"/>
          <p:cNvSpPr/>
          <p:nvPr/>
        </p:nvSpPr>
        <p:spPr>
          <a:xfrm>
            <a:off x="1331214" y="2871216"/>
            <a:ext cx="91440" cy="68580"/>
          </a:xfrm>
          <a:custGeom>
            <a:rect b="b" l="l" r="r" t="t"/>
            <a:pathLst>
              <a:path extrusionOk="0" h="91440" w="91440">
                <a:moveTo>
                  <a:pt x="45720" y="91440"/>
                </a:moveTo>
                <a:cubicBezTo>
                  <a:pt x="70970" y="91440"/>
                  <a:pt x="91440" y="70970"/>
                  <a:pt x="91440" y="45720"/>
                </a:cubicBezTo>
                <a:cubicBezTo>
                  <a:pt x="91440" y="20469"/>
                  <a:pt x="70970" y="0"/>
                  <a:pt x="45720" y="0"/>
                </a:cubicBezTo>
                <a:cubicBezTo>
                  <a:pt x="20469" y="0"/>
                  <a:pt x="0" y="20469"/>
                  <a:pt x="0" y="45720"/>
                </a:cubicBezTo>
                <a:cubicBezTo>
                  <a:pt x="0" y="70970"/>
                  <a:pt x="20469" y="91440"/>
                  <a:pt x="45720" y="91440"/>
                </a:cubicBezTo>
                <a:close/>
              </a:path>
            </a:pathLst>
          </a:custGeom>
          <a:noFill/>
          <a:ln cap="flat" cmpd="sng" w="9525">
            <a:solidFill>
              <a:srgbClr val="4848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4"/>
          <p:cNvSpPr/>
          <p:nvPr/>
        </p:nvSpPr>
        <p:spPr>
          <a:xfrm>
            <a:off x="1102614" y="3299841"/>
            <a:ext cx="548640" cy="411480"/>
          </a:xfrm>
          <a:custGeom>
            <a:rect b="b" l="l" r="r" t="t"/>
            <a:pathLst>
              <a:path extrusionOk="0" h="548640" w="548640">
                <a:moveTo>
                  <a:pt x="274320" y="548640"/>
                </a:moveTo>
                <a:cubicBezTo>
                  <a:pt x="425820" y="548640"/>
                  <a:pt x="548640" y="425820"/>
                  <a:pt x="548640" y="274320"/>
                </a:cubicBezTo>
                <a:cubicBezTo>
                  <a:pt x="548640" y="122819"/>
                  <a:pt x="425820" y="0"/>
                  <a:pt x="274320" y="0"/>
                </a:cubicBezTo>
                <a:cubicBezTo>
                  <a:pt x="122819" y="0"/>
                  <a:pt x="0" y="122819"/>
                  <a:pt x="0" y="274320"/>
                </a:cubicBezTo>
                <a:cubicBezTo>
                  <a:pt x="0" y="425820"/>
                  <a:pt x="122819" y="548640"/>
                  <a:pt x="274320" y="548640"/>
                </a:cubicBezTo>
              </a:path>
            </a:pathLst>
          </a:custGeom>
          <a:solidFill>
            <a:srgbClr val="EDF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4"/>
          <p:cNvSpPr/>
          <p:nvPr/>
        </p:nvSpPr>
        <p:spPr>
          <a:xfrm>
            <a:off x="1102614" y="3299841"/>
            <a:ext cx="548640" cy="411480"/>
          </a:xfrm>
          <a:custGeom>
            <a:rect b="b" l="l" r="r" t="t"/>
            <a:pathLst>
              <a:path extrusionOk="0" h="548640" w="548640">
                <a:moveTo>
                  <a:pt x="274320" y="548640"/>
                </a:moveTo>
                <a:cubicBezTo>
                  <a:pt x="425823" y="548640"/>
                  <a:pt x="548640" y="425822"/>
                  <a:pt x="548640" y="274320"/>
                </a:cubicBezTo>
                <a:cubicBezTo>
                  <a:pt x="548640" y="122817"/>
                  <a:pt x="425823" y="0"/>
                  <a:pt x="274320" y="0"/>
                </a:cubicBezTo>
                <a:cubicBezTo>
                  <a:pt x="122816" y="0"/>
                  <a:pt x="0" y="122817"/>
                  <a:pt x="0" y="274320"/>
                </a:cubicBezTo>
                <a:cubicBezTo>
                  <a:pt x="0" y="425822"/>
                  <a:pt x="122816" y="548640"/>
                  <a:pt x="274320" y="548640"/>
                </a:cubicBezTo>
                <a:close/>
              </a:path>
            </a:pathLst>
          </a:custGeom>
          <a:noFill/>
          <a:ln cap="flat" cmpd="sng" w="9525">
            <a:solidFill>
              <a:srgbClr val="4848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4"/>
          <p:cNvSpPr/>
          <p:nvPr/>
        </p:nvSpPr>
        <p:spPr>
          <a:xfrm>
            <a:off x="2611374" y="2871216"/>
            <a:ext cx="91440" cy="68580"/>
          </a:xfrm>
          <a:custGeom>
            <a:rect b="b" l="l" r="r" t="t"/>
            <a:pathLst>
              <a:path extrusionOk="0" h="91440" w="91440">
                <a:moveTo>
                  <a:pt x="45720" y="91440"/>
                </a:moveTo>
                <a:cubicBezTo>
                  <a:pt x="70972" y="91440"/>
                  <a:pt x="91440" y="70972"/>
                  <a:pt x="91440" y="45720"/>
                </a:cubicBezTo>
                <a:cubicBezTo>
                  <a:pt x="91440" y="20467"/>
                  <a:pt x="70972" y="0"/>
                  <a:pt x="45720" y="0"/>
                </a:cubicBezTo>
                <a:cubicBezTo>
                  <a:pt x="20467" y="0"/>
                  <a:pt x="0" y="20467"/>
                  <a:pt x="0" y="45720"/>
                </a:cubicBezTo>
                <a:cubicBezTo>
                  <a:pt x="0" y="70972"/>
                  <a:pt x="20467" y="91440"/>
                  <a:pt x="45720" y="91440"/>
                </a:cubicBezTo>
              </a:path>
            </a:pathLst>
          </a:custGeom>
          <a:solidFill>
            <a:srgbClr val="EDF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4"/>
          <p:cNvSpPr/>
          <p:nvPr/>
        </p:nvSpPr>
        <p:spPr>
          <a:xfrm>
            <a:off x="2611374" y="2871216"/>
            <a:ext cx="91440" cy="68580"/>
          </a:xfrm>
          <a:custGeom>
            <a:rect b="b" l="l" r="r" t="t"/>
            <a:pathLst>
              <a:path extrusionOk="0" h="91440" w="91440">
                <a:moveTo>
                  <a:pt x="45720" y="91440"/>
                </a:moveTo>
                <a:cubicBezTo>
                  <a:pt x="70970" y="91440"/>
                  <a:pt x="91440" y="70970"/>
                  <a:pt x="91440" y="45720"/>
                </a:cubicBezTo>
                <a:cubicBezTo>
                  <a:pt x="91440" y="20469"/>
                  <a:pt x="70970" y="0"/>
                  <a:pt x="45720" y="0"/>
                </a:cubicBezTo>
                <a:cubicBezTo>
                  <a:pt x="20469" y="0"/>
                  <a:pt x="0" y="20469"/>
                  <a:pt x="0" y="45720"/>
                </a:cubicBezTo>
                <a:cubicBezTo>
                  <a:pt x="0" y="70970"/>
                  <a:pt x="20469" y="91440"/>
                  <a:pt x="45720" y="91440"/>
                </a:cubicBezTo>
                <a:close/>
              </a:path>
            </a:pathLst>
          </a:custGeom>
          <a:noFill/>
          <a:ln cap="flat" cmpd="sng" w="9525">
            <a:solidFill>
              <a:srgbClr val="4848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4"/>
          <p:cNvSpPr/>
          <p:nvPr/>
        </p:nvSpPr>
        <p:spPr>
          <a:xfrm>
            <a:off x="2382774" y="3299841"/>
            <a:ext cx="548640" cy="411480"/>
          </a:xfrm>
          <a:custGeom>
            <a:rect b="b" l="l" r="r" t="t"/>
            <a:pathLst>
              <a:path extrusionOk="0" h="548640" w="548640">
                <a:moveTo>
                  <a:pt x="274320" y="548640"/>
                </a:moveTo>
                <a:cubicBezTo>
                  <a:pt x="425820" y="548640"/>
                  <a:pt x="548640" y="425820"/>
                  <a:pt x="548640" y="274320"/>
                </a:cubicBezTo>
                <a:cubicBezTo>
                  <a:pt x="548640" y="122819"/>
                  <a:pt x="425820" y="0"/>
                  <a:pt x="274320" y="0"/>
                </a:cubicBezTo>
                <a:cubicBezTo>
                  <a:pt x="122819" y="0"/>
                  <a:pt x="0" y="122819"/>
                  <a:pt x="0" y="274320"/>
                </a:cubicBezTo>
                <a:cubicBezTo>
                  <a:pt x="0" y="425820"/>
                  <a:pt x="122819" y="548640"/>
                  <a:pt x="274320" y="548640"/>
                </a:cubicBezTo>
              </a:path>
            </a:pathLst>
          </a:custGeom>
          <a:solidFill>
            <a:srgbClr val="EDF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4"/>
          <p:cNvSpPr/>
          <p:nvPr/>
        </p:nvSpPr>
        <p:spPr>
          <a:xfrm>
            <a:off x="2382774" y="3299841"/>
            <a:ext cx="548640" cy="411480"/>
          </a:xfrm>
          <a:custGeom>
            <a:rect b="b" l="l" r="r" t="t"/>
            <a:pathLst>
              <a:path extrusionOk="0" h="548640" w="548640">
                <a:moveTo>
                  <a:pt x="274320" y="548640"/>
                </a:moveTo>
                <a:cubicBezTo>
                  <a:pt x="425823" y="548640"/>
                  <a:pt x="548640" y="425822"/>
                  <a:pt x="548640" y="274320"/>
                </a:cubicBezTo>
                <a:cubicBezTo>
                  <a:pt x="548640" y="122817"/>
                  <a:pt x="425823" y="0"/>
                  <a:pt x="274320" y="0"/>
                </a:cubicBezTo>
                <a:cubicBezTo>
                  <a:pt x="122816" y="0"/>
                  <a:pt x="0" y="122817"/>
                  <a:pt x="0" y="274320"/>
                </a:cubicBezTo>
                <a:cubicBezTo>
                  <a:pt x="0" y="425822"/>
                  <a:pt x="122816" y="548640"/>
                  <a:pt x="274320" y="548640"/>
                </a:cubicBezTo>
                <a:close/>
              </a:path>
            </a:pathLst>
          </a:custGeom>
          <a:noFill/>
          <a:ln cap="flat" cmpd="sng" w="9525">
            <a:solidFill>
              <a:srgbClr val="4848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4"/>
          <p:cNvSpPr/>
          <p:nvPr/>
        </p:nvSpPr>
        <p:spPr>
          <a:xfrm>
            <a:off x="3891534" y="2871216"/>
            <a:ext cx="91440" cy="68580"/>
          </a:xfrm>
          <a:custGeom>
            <a:rect b="b" l="l" r="r" t="t"/>
            <a:pathLst>
              <a:path extrusionOk="0" h="91440" w="91440">
                <a:moveTo>
                  <a:pt x="45720" y="91440"/>
                </a:moveTo>
                <a:cubicBezTo>
                  <a:pt x="70972" y="91440"/>
                  <a:pt x="91440" y="70972"/>
                  <a:pt x="91440" y="45720"/>
                </a:cubicBezTo>
                <a:cubicBezTo>
                  <a:pt x="91440" y="20467"/>
                  <a:pt x="70972" y="0"/>
                  <a:pt x="45720" y="0"/>
                </a:cubicBezTo>
                <a:cubicBezTo>
                  <a:pt x="20467" y="0"/>
                  <a:pt x="0" y="20467"/>
                  <a:pt x="0" y="45720"/>
                </a:cubicBezTo>
                <a:cubicBezTo>
                  <a:pt x="0" y="70972"/>
                  <a:pt x="20467" y="91440"/>
                  <a:pt x="45720" y="91440"/>
                </a:cubicBezTo>
              </a:path>
            </a:pathLst>
          </a:custGeom>
          <a:solidFill>
            <a:srgbClr val="EDF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3891534" y="2871216"/>
            <a:ext cx="91440" cy="68580"/>
          </a:xfrm>
          <a:custGeom>
            <a:rect b="b" l="l" r="r" t="t"/>
            <a:pathLst>
              <a:path extrusionOk="0" h="91440" w="91440">
                <a:moveTo>
                  <a:pt x="45720" y="91440"/>
                </a:moveTo>
                <a:cubicBezTo>
                  <a:pt x="70970" y="91440"/>
                  <a:pt x="91440" y="70970"/>
                  <a:pt x="91440" y="45720"/>
                </a:cubicBezTo>
                <a:cubicBezTo>
                  <a:pt x="91440" y="20469"/>
                  <a:pt x="70970" y="0"/>
                  <a:pt x="45720" y="0"/>
                </a:cubicBezTo>
                <a:cubicBezTo>
                  <a:pt x="20469" y="0"/>
                  <a:pt x="0" y="20469"/>
                  <a:pt x="0" y="45720"/>
                </a:cubicBezTo>
                <a:cubicBezTo>
                  <a:pt x="0" y="70970"/>
                  <a:pt x="20469" y="91440"/>
                  <a:pt x="45720" y="91440"/>
                </a:cubicBezTo>
                <a:close/>
              </a:path>
            </a:pathLst>
          </a:custGeom>
          <a:noFill/>
          <a:ln cap="flat" cmpd="sng" w="9525">
            <a:solidFill>
              <a:srgbClr val="4848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3662934" y="3299841"/>
            <a:ext cx="548640" cy="411480"/>
          </a:xfrm>
          <a:custGeom>
            <a:rect b="b" l="l" r="r" t="t"/>
            <a:pathLst>
              <a:path extrusionOk="0" h="548640" w="548640">
                <a:moveTo>
                  <a:pt x="274320" y="548640"/>
                </a:moveTo>
                <a:cubicBezTo>
                  <a:pt x="425820" y="548640"/>
                  <a:pt x="548640" y="425820"/>
                  <a:pt x="548640" y="274320"/>
                </a:cubicBezTo>
                <a:cubicBezTo>
                  <a:pt x="548640" y="122819"/>
                  <a:pt x="425820" y="0"/>
                  <a:pt x="274320" y="0"/>
                </a:cubicBezTo>
                <a:cubicBezTo>
                  <a:pt x="122819" y="0"/>
                  <a:pt x="0" y="122819"/>
                  <a:pt x="0" y="274320"/>
                </a:cubicBezTo>
                <a:cubicBezTo>
                  <a:pt x="0" y="425820"/>
                  <a:pt x="122819" y="548640"/>
                  <a:pt x="274320" y="548640"/>
                </a:cubicBezTo>
              </a:path>
            </a:pathLst>
          </a:custGeom>
          <a:solidFill>
            <a:srgbClr val="EDF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4"/>
          <p:cNvSpPr/>
          <p:nvPr/>
        </p:nvSpPr>
        <p:spPr>
          <a:xfrm>
            <a:off x="3662934" y="3299841"/>
            <a:ext cx="548640" cy="411480"/>
          </a:xfrm>
          <a:custGeom>
            <a:rect b="b" l="l" r="r" t="t"/>
            <a:pathLst>
              <a:path extrusionOk="0" h="548640" w="548640">
                <a:moveTo>
                  <a:pt x="274320" y="548640"/>
                </a:moveTo>
                <a:cubicBezTo>
                  <a:pt x="425823" y="548640"/>
                  <a:pt x="548640" y="425822"/>
                  <a:pt x="548640" y="274320"/>
                </a:cubicBezTo>
                <a:cubicBezTo>
                  <a:pt x="548640" y="122817"/>
                  <a:pt x="425823" y="0"/>
                  <a:pt x="274320" y="0"/>
                </a:cubicBezTo>
                <a:cubicBezTo>
                  <a:pt x="122816" y="0"/>
                  <a:pt x="0" y="122817"/>
                  <a:pt x="0" y="274320"/>
                </a:cubicBezTo>
                <a:cubicBezTo>
                  <a:pt x="0" y="425822"/>
                  <a:pt x="122816" y="548640"/>
                  <a:pt x="274320" y="548640"/>
                </a:cubicBezTo>
                <a:close/>
              </a:path>
            </a:pathLst>
          </a:custGeom>
          <a:noFill/>
          <a:ln cap="flat" cmpd="sng" w="9525">
            <a:solidFill>
              <a:srgbClr val="4848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4"/>
          <p:cNvSpPr/>
          <p:nvPr/>
        </p:nvSpPr>
        <p:spPr>
          <a:xfrm>
            <a:off x="5171694" y="2871216"/>
            <a:ext cx="91440" cy="68580"/>
          </a:xfrm>
          <a:custGeom>
            <a:rect b="b" l="l" r="r" t="t"/>
            <a:pathLst>
              <a:path extrusionOk="0" h="91440" w="91440">
                <a:moveTo>
                  <a:pt x="45720" y="91440"/>
                </a:moveTo>
                <a:cubicBezTo>
                  <a:pt x="70972" y="91440"/>
                  <a:pt x="91440" y="70972"/>
                  <a:pt x="91440" y="45720"/>
                </a:cubicBezTo>
                <a:cubicBezTo>
                  <a:pt x="91440" y="20467"/>
                  <a:pt x="70972" y="0"/>
                  <a:pt x="45720" y="0"/>
                </a:cubicBezTo>
                <a:cubicBezTo>
                  <a:pt x="20467" y="0"/>
                  <a:pt x="0" y="20467"/>
                  <a:pt x="0" y="45720"/>
                </a:cubicBezTo>
                <a:cubicBezTo>
                  <a:pt x="0" y="70972"/>
                  <a:pt x="20467" y="91440"/>
                  <a:pt x="45720" y="91440"/>
                </a:cubicBezTo>
              </a:path>
            </a:pathLst>
          </a:custGeom>
          <a:solidFill>
            <a:srgbClr val="EDF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4"/>
          <p:cNvSpPr/>
          <p:nvPr/>
        </p:nvSpPr>
        <p:spPr>
          <a:xfrm>
            <a:off x="5171694" y="2871216"/>
            <a:ext cx="91440" cy="68580"/>
          </a:xfrm>
          <a:custGeom>
            <a:rect b="b" l="l" r="r" t="t"/>
            <a:pathLst>
              <a:path extrusionOk="0" h="91440" w="91440">
                <a:moveTo>
                  <a:pt x="45720" y="91440"/>
                </a:moveTo>
                <a:cubicBezTo>
                  <a:pt x="70970" y="91440"/>
                  <a:pt x="91440" y="70970"/>
                  <a:pt x="91440" y="45720"/>
                </a:cubicBezTo>
                <a:cubicBezTo>
                  <a:pt x="91440" y="20469"/>
                  <a:pt x="70970" y="0"/>
                  <a:pt x="45720" y="0"/>
                </a:cubicBezTo>
                <a:cubicBezTo>
                  <a:pt x="20469" y="0"/>
                  <a:pt x="0" y="20469"/>
                  <a:pt x="0" y="45720"/>
                </a:cubicBezTo>
                <a:cubicBezTo>
                  <a:pt x="0" y="70970"/>
                  <a:pt x="20469" y="91440"/>
                  <a:pt x="45720" y="91440"/>
                </a:cubicBezTo>
                <a:close/>
              </a:path>
            </a:pathLst>
          </a:custGeom>
          <a:noFill/>
          <a:ln cap="flat" cmpd="sng" w="9525">
            <a:solidFill>
              <a:srgbClr val="4848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4"/>
          <p:cNvSpPr/>
          <p:nvPr/>
        </p:nvSpPr>
        <p:spPr>
          <a:xfrm>
            <a:off x="4943094" y="3299841"/>
            <a:ext cx="548640" cy="411480"/>
          </a:xfrm>
          <a:custGeom>
            <a:rect b="b" l="l" r="r" t="t"/>
            <a:pathLst>
              <a:path extrusionOk="0" h="548640" w="548640">
                <a:moveTo>
                  <a:pt x="274320" y="548640"/>
                </a:moveTo>
                <a:cubicBezTo>
                  <a:pt x="425820" y="548640"/>
                  <a:pt x="548640" y="425820"/>
                  <a:pt x="548640" y="274320"/>
                </a:cubicBezTo>
                <a:cubicBezTo>
                  <a:pt x="548640" y="122819"/>
                  <a:pt x="425820" y="0"/>
                  <a:pt x="274320" y="0"/>
                </a:cubicBezTo>
                <a:cubicBezTo>
                  <a:pt x="122819" y="0"/>
                  <a:pt x="0" y="122819"/>
                  <a:pt x="0" y="274320"/>
                </a:cubicBezTo>
                <a:cubicBezTo>
                  <a:pt x="0" y="425820"/>
                  <a:pt x="122819" y="548640"/>
                  <a:pt x="274320" y="548640"/>
                </a:cubicBezTo>
              </a:path>
            </a:pathLst>
          </a:custGeom>
          <a:solidFill>
            <a:srgbClr val="EDF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4"/>
          <p:cNvSpPr/>
          <p:nvPr/>
        </p:nvSpPr>
        <p:spPr>
          <a:xfrm>
            <a:off x="4943094" y="3299841"/>
            <a:ext cx="548640" cy="411480"/>
          </a:xfrm>
          <a:custGeom>
            <a:rect b="b" l="l" r="r" t="t"/>
            <a:pathLst>
              <a:path extrusionOk="0" h="548640" w="548640">
                <a:moveTo>
                  <a:pt x="274320" y="548640"/>
                </a:moveTo>
                <a:cubicBezTo>
                  <a:pt x="425823" y="548640"/>
                  <a:pt x="548640" y="425822"/>
                  <a:pt x="548640" y="274320"/>
                </a:cubicBezTo>
                <a:cubicBezTo>
                  <a:pt x="548640" y="122817"/>
                  <a:pt x="425823" y="0"/>
                  <a:pt x="274320" y="0"/>
                </a:cubicBezTo>
                <a:cubicBezTo>
                  <a:pt x="122816" y="0"/>
                  <a:pt x="0" y="122817"/>
                  <a:pt x="0" y="274320"/>
                </a:cubicBezTo>
                <a:cubicBezTo>
                  <a:pt x="0" y="425822"/>
                  <a:pt x="122816" y="548640"/>
                  <a:pt x="274320" y="548640"/>
                </a:cubicBezTo>
                <a:close/>
              </a:path>
            </a:pathLst>
          </a:custGeom>
          <a:noFill/>
          <a:ln cap="flat" cmpd="sng" w="9525">
            <a:solidFill>
              <a:srgbClr val="4848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4"/>
          <p:cNvSpPr/>
          <p:nvPr/>
        </p:nvSpPr>
        <p:spPr>
          <a:xfrm>
            <a:off x="6451854" y="2871216"/>
            <a:ext cx="91440" cy="68580"/>
          </a:xfrm>
          <a:custGeom>
            <a:rect b="b" l="l" r="r" t="t"/>
            <a:pathLst>
              <a:path extrusionOk="0" h="91440" w="91440">
                <a:moveTo>
                  <a:pt x="45720" y="91440"/>
                </a:moveTo>
                <a:cubicBezTo>
                  <a:pt x="70972" y="91440"/>
                  <a:pt x="91440" y="70972"/>
                  <a:pt x="91440" y="45720"/>
                </a:cubicBezTo>
                <a:cubicBezTo>
                  <a:pt x="91440" y="20467"/>
                  <a:pt x="70972" y="0"/>
                  <a:pt x="45720" y="0"/>
                </a:cubicBezTo>
                <a:cubicBezTo>
                  <a:pt x="20467" y="0"/>
                  <a:pt x="0" y="20467"/>
                  <a:pt x="0" y="45720"/>
                </a:cubicBezTo>
                <a:cubicBezTo>
                  <a:pt x="0" y="70972"/>
                  <a:pt x="20467" y="91440"/>
                  <a:pt x="45720" y="91440"/>
                </a:cubicBezTo>
              </a:path>
            </a:pathLst>
          </a:custGeom>
          <a:solidFill>
            <a:srgbClr val="EDF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4"/>
          <p:cNvSpPr/>
          <p:nvPr/>
        </p:nvSpPr>
        <p:spPr>
          <a:xfrm>
            <a:off x="6451854" y="2871216"/>
            <a:ext cx="91440" cy="68580"/>
          </a:xfrm>
          <a:custGeom>
            <a:rect b="b" l="l" r="r" t="t"/>
            <a:pathLst>
              <a:path extrusionOk="0" h="91440" w="91440">
                <a:moveTo>
                  <a:pt x="45720" y="91440"/>
                </a:moveTo>
                <a:cubicBezTo>
                  <a:pt x="70970" y="91440"/>
                  <a:pt x="91440" y="70970"/>
                  <a:pt x="91440" y="45720"/>
                </a:cubicBezTo>
                <a:cubicBezTo>
                  <a:pt x="91440" y="20469"/>
                  <a:pt x="70970" y="0"/>
                  <a:pt x="45720" y="0"/>
                </a:cubicBezTo>
                <a:cubicBezTo>
                  <a:pt x="20469" y="0"/>
                  <a:pt x="0" y="20469"/>
                  <a:pt x="0" y="45720"/>
                </a:cubicBezTo>
                <a:cubicBezTo>
                  <a:pt x="0" y="70970"/>
                  <a:pt x="20469" y="91440"/>
                  <a:pt x="45720" y="91440"/>
                </a:cubicBezTo>
                <a:close/>
              </a:path>
            </a:pathLst>
          </a:custGeom>
          <a:noFill/>
          <a:ln cap="flat" cmpd="sng" w="9525">
            <a:solidFill>
              <a:srgbClr val="4848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4"/>
          <p:cNvSpPr/>
          <p:nvPr/>
        </p:nvSpPr>
        <p:spPr>
          <a:xfrm>
            <a:off x="6223254" y="3299841"/>
            <a:ext cx="548640" cy="411480"/>
          </a:xfrm>
          <a:custGeom>
            <a:rect b="b" l="l" r="r" t="t"/>
            <a:pathLst>
              <a:path extrusionOk="0" h="548640" w="548640">
                <a:moveTo>
                  <a:pt x="274320" y="548640"/>
                </a:moveTo>
                <a:cubicBezTo>
                  <a:pt x="425820" y="548640"/>
                  <a:pt x="548640" y="425820"/>
                  <a:pt x="548640" y="274320"/>
                </a:cubicBezTo>
                <a:cubicBezTo>
                  <a:pt x="548640" y="122819"/>
                  <a:pt x="425820" y="0"/>
                  <a:pt x="274320" y="0"/>
                </a:cubicBezTo>
                <a:cubicBezTo>
                  <a:pt x="122819" y="0"/>
                  <a:pt x="0" y="122819"/>
                  <a:pt x="0" y="274320"/>
                </a:cubicBezTo>
                <a:cubicBezTo>
                  <a:pt x="0" y="425820"/>
                  <a:pt x="122819" y="548640"/>
                  <a:pt x="274320" y="548640"/>
                </a:cubicBezTo>
              </a:path>
            </a:pathLst>
          </a:custGeom>
          <a:solidFill>
            <a:srgbClr val="EDF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4"/>
          <p:cNvSpPr/>
          <p:nvPr/>
        </p:nvSpPr>
        <p:spPr>
          <a:xfrm>
            <a:off x="6223254" y="3299841"/>
            <a:ext cx="548640" cy="411480"/>
          </a:xfrm>
          <a:custGeom>
            <a:rect b="b" l="l" r="r" t="t"/>
            <a:pathLst>
              <a:path extrusionOk="0" h="548640" w="548640">
                <a:moveTo>
                  <a:pt x="274320" y="548640"/>
                </a:moveTo>
                <a:cubicBezTo>
                  <a:pt x="425823" y="548640"/>
                  <a:pt x="548640" y="425822"/>
                  <a:pt x="548640" y="274320"/>
                </a:cubicBezTo>
                <a:cubicBezTo>
                  <a:pt x="548640" y="122817"/>
                  <a:pt x="425823" y="0"/>
                  <a:pt x="274320" y="0"/>
                </a:cubicBezTo>
                <a:cubicBezTo>
                  <a:pt x="122816" y="0"/>
                  <a:pt x="0" y="122817"/>
                  <a:pt x="0" y="274320"/>
                </a:cubicBezTo>
                <a:cubicBezTo>
                  <a:pt x="0" y="425822"/>
                  <a:pt x="122816" y="548640"/>
                  <a:pt x="274320" y="548640"/>
                </a:cubicBezTo>
                <a:close/>
              </a:path>
            </a:pathLst>
          </a:custGeom>
          <a:noFill/>
          <a:ln cap="flat" cmpd="sng" w="9525">
            <a:solidFill>
              <a:srgbClr val="4848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4"/>
          <p:cNvSpPr/>
          <p:nvPr/>
        </p:nvSpPr>
        <p:spPr>
          <a:xfrm>
            <a:off x="7732014" y="2871216"/>
            <a:ext cx="91440" cy="68580"/>
          </a:xfrm>
          <a:custGeom>
            <a:rect b="b" l="l" r="r" t="t"/>
            <a:pathLst>
              <a:path extrusionOk="0" h="91440" w="91440">
                <a:moveTo>
                  <a:pt x="45720" y="91440"/>
                </a:moveTo>
                <a:cubicBezTo>
                  <a:pt x="70972" y="91440"/>
                  <a:pt x="91440" y="70972"/>
                  <a:pt x="91440" y="45720"/>
                </a:cubicBezTo>
                <a:cubicBezTo>
                  <a:pt x="91440" y="20467"/>
                  <a:pt x="70972" y="0"/>
                  <a:pt x="45720" y="0"/>
                </a:cubicBezTo>
                <a:cubicBezTo>
                  <a:pt x="20467" y="0"/>
                  <a:pt x="0" y="20467"/>
                  <a:pt x="0" y="45720"/>
                </a:cubicBezTo>
                <a:cubicBezTo>
                  <a:pt x="0" y="70972"/>
                  <a:pt x="20467" y="91440"/>
                  <a:pt x="45720" y="91440"/>
                </a:cubicBezTo>
              </a:path>
            </a:pathLst>
          </a:custGeom>
          <a:solidFill>
            <a:srgbClr val="EDF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4"/>
          <p:cNvSpPr/>
          <p:nvPr/>
        </p:nvSpPr>
        <p:spPr>
          <a:xfrm>
            <a:off x="7732014" y="2871216"/>
            <a:ext cx="91440" cy="68580"/>
          </a:xfrm>
          <a:custGeom>
            <a:rect b="b" l="l" r="r" t="t"/>
            <a:pathLst>
              <a:path extrusionOk="0" h="91440" w="91440">
                <a:moveTo>
                  <a:pt x="45720" y="91440"/>
                </a:moveTo>
                <a:cubicBezTo>
                  <a:pt x="70970" y="91440"/>
                  <a:pt x="91440" y="70970"/>
                  <a:pt x="91440" y="45720"/>
                </a:cubicBezTo>
                <a:cubicBezTo>
                  <a:pt x="91440" y="20469"/>
                  <a:pt x="70970" y="0"/>
                  <a:pt x="45720" y="0"/>
                </a:cubicBezTo>
                <a:cubicBezTo>
                  <a:pt x="20469" y="0"/>
                  <a:pt x="0" y="20469"/>
                  <a:pt x="0" y="45720"/>
                </a:cubicBezTo>
                <a:cubicBezTo>
                  <a:pt x="0" y="70970"/>
                  <a:pt x="20469" y="91440"/>
                  <a:pt x="45720" y="91440"/>
                </a:cubicBezTo>
                <a:close/>
              </a:path>
            </a:pathLst>
          </a:custGeom>
          <a:noFill/>
          <a:ln cap="flat" cmpd="sng" w="9525">
            <a:solidFill>
              <a:srgbClr val="4848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4"/>
          <p:cNvSpPr/>
          <p:nvPr/>
        </p:nvSpPr>
        <p:spPr>
          <a:xfrm>
            <a:off x="7503414" y="3299841"/>
            <a:ext cx="548640" cy="411480"/>
          </a:xfrm>
          <a:custGeom>
            <a:rect b="b" l="l" r="r" t="t"/>
            <a:pathLst>
              <a:path extrusionOk="0" h="548640" w="548640">
                <a:moveTo>
                  <a:pt x="274320" y="548640"/>
                </a:moveTo>
                <a:cubicBezTo>
                  <a:pt x="425820" y="548640"/>
                  <a:pt x="548640" y="425820"/>
                  <a:pt x="548640" y="274320"/>
                </a:cubicBezTo>
                <a:cubicBezTo>
                  <a:pt x="548640" y="122819"/>
                  <a:pt x="425820" y="0"/>
                  <a:pt x="274320" y="0"/>
                </a:cubicBezTo>
                <a:cubicBezTo>
                  <a:pt x="122819" y="0"/>
                  <a:pt x="0" y="122819"/>
                  <a:pt x="0" y="274320"/>
                </a:cubicBezTo>
                <a:cubicBezTo>
                  <a:pt x="0" y="425820"/>
                  <a:pt x="122819" y="548640"/>
                  <a:pt x="274320" y="548640"/>
                </a:cubicBezTo>
              </a:path>
            </a:pathLst>
          </a:custGeom>
          <a:solidFill>
            <a:srgbClr val="EDF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4"/>
          <p:cNvSpPr/>
          <p:nvPr/>
        </p:nvSpPr>
        <p:spPr>
          <a:xfrm>
            <a:off x="7503414" y="3299841"/>
            <a:ext cx="548640" cy="411480"/>
          </a:xfrm>
          <a:custGeom>
            <a:rect b="b" l="l" r="r" t="t"/>
            <a:pathLst>
              <a:path extrusionOk="0" h="548640" w="548640">
                <a:moveTo>
                  <a:pt x="274320" y="548640"/>
                </a:moveTo>
                <a:cubicBezTo>
                  <a:pt x="425823" y="548640"/>
                  <a:pt x="548640" y="425822"/>
                  <a:pt x="548640" y="274320"/>
                </a:cubicBezTo>
                <a:cubicBezTo>
                  <a:pt x="548640" y="122817"/>
                  <a:pt x="425823" y="0"/>
                  <a:pt x="274320" y="0"/>
                </a:cubicBezTo>
                <a:cubicBezTo>
                  <a:pt x="122816" y="0"/>
                  <a:pt x="0" y="122817"/>
                  <a:pt x="0" y="274320"/>
                </a:cubicBezTo>
                <a:cubicBezTo>
                  <a:pt x="0" y="425822"/>
                  <a:pt x="122816" y="548640"/>
                  <a:pt x="274320" y="548640"/>
                </a:cubicBezTo>
                <a:close/>
              </a:path>
            </a:pathLst>
          </a:custGeom>
          <a:noFill/>
          <a:ln cap="flat" cmpd="sng" w="9525">
            <a:solidFill>
              <a:srgbClr val="4848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4"/>
          <p:cNvSpPr txBox="1"/>
          <p:nvPr/>
        </p:nvSpPr>
        <p:spPr>
          <a:xfrm>
            <a:off x="7262622" y="1643063"/>
            <a:ext cx="1030224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Reminder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scheduling service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triggers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notifications based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on user request</a:t>
            </a:r>
            <a:endParaRPr/>
          </a:p>
        </p:txBody>
      </p:sp>
      <p:sp>
        <p:nvSpPr>
          <p:cNvPr id="288" name="Google Shape;288;p44"/>
          <p:cNvSpPr txBox="1"/>
          <p:nvPr/>
        </p:nvSpPr>
        <p:spPr>
          <a:xfrm>
            <a:off x="6104382" y="1917382"/>
            <a:ext cx="786384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Trend Analysis</a:t>
            </a:r>
            <a:endParaRPr/>
          </a:p>
        </p:txBody>
      </p:sp>
      <p:sp>
        <p:nvSpPr>
          <p:cNvPr id="289" name="Google Shape;289;p44"/>
          <p:cNvSpPr txBox="1"/>
          <p:nvPr/>
        </p:nvSpPr>
        <p:spPr>
          <a:xfrm>
            <a:off x="4738878" y="1745932"/>
            <a:ext cx="9570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Vector-enabled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NoSQL database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stores adherence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history summaries</a:t>
            </a:r>
            <a:endParaRPr/>
          </a:p>
        </p:txBody>
      </p:sp>
      <p:sp>
        <p:nvSpPr>
          <p:cNvPr id="290" name="Google Shape;290;p44"/>
          <p:cNvSpPr txBox="1"/>
          <p:nvPr/>
        </p:nvSpPr>
        <p:spPr>
          <a:xfrm>
            <a:off x="7314438" y="3871913"/>
            <a:ext cx="92659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Reminder &amp;</a:t>
            </a:r>
            <a:b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Notification Layer</a:t>
            </a:r>
            <a:endParaRPr/>
          </a:p>
        </p:txBody>
      </p:sp>
      <p:sp>
        <p:nvSpPr>
          <p:cNvPr id="291" name="Google Shape;291;p44"/>
          <p:cNvSpPr txBox="1"/>
          <p:nvPr/>
        </p:nvSpPr>
        <p:spPr>
          <a:xfrm>
            <a:off x="851154" y="1985963"/>
            <a:ext cx="10515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User provides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medication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adherence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information via chat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or text</a:t>
            </a:r>
            <a:endParaRPr/>
          </a:p>
        </p:txBody>
      </p:sp>
      <p:sp>
        <p:nvSpPr>
          <p:cNvPr id="292" name="Google Shape;292;p44"/>
          <p:cNvSpPr txBox="1"/>
          <p:nvPr/>
        </p:nvSpPr>
        <p:spPr>
          <a:xfrm>
            <a:off x="3437382" y="1985963"/>
            <a:ext cx="999744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AI agent generates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user-facing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response and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decides reminder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action</a:t>
            </a:r>
            <a:endParaRPr/>
          </a:p>
        </p:txBody>
      </p:sp>
      <p:sp>
        <p:nvSpPr>
          <p:cNvPr id="293" name="Google Shape;293;p44"/>
          <p:cNvSpPr txBox="1"/>
          <p:nvPr/>
        </p:nvSpPr>
        <p:spPr>
          <a:xfrm>
            <a:off x="6040374" y="2088832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Agent 2 retrieves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past history to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determine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adherence trends</a:t>
            </a:r>
            <a:endParaRPr/>
          </a:p>
        </p:txBody>
      </p:sp>
      <p:sp>
        <p:nvSpPr>
          <p:cNvPr id="294" name="Google Shape;294;p44"/>
          <p:cNvSpPr txBox="1"/>
          <p:nvPr/>
        </p:nvSpPr>
        <p:spPr>
          <a:xfrm>
            <a:off x="4796790" y="1574483"/>
            <a:ext cx="841248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History Memory</a:t>
            </a:r>
            <a:endParaRPr/>
          </a:p>
        </p:txBody>
      </p:sp>
      <p:sp>
        <p:nvSpPr>
          <p:cNvPr id="295" name="Google Shape;295;p44"/>
          <p:cNvSpPr txBox="1"/>
          <p:nvPr/>
        </p:nvSpPr>
        <p:spPr>
          <a:xfrm>
            <a:off x="2154174" y="1745932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AI agent analyzes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user input and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summarizes</a:t>
            </a:r>
            <a:b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adherence behavior</a:t>
            </a:r>
            <a:endParaRPr/>
          </a:p>
        </p:txBody>
      </p:sp>
      <p:sp>
        <p:nvSpPr>
          <p:cNvPr id="296" name="Google Shape;296;p44"/>
          <p:cNvSpPr txBox="1"/>
          <p:nvPr/>
        </p:nvSpPr>
        <p:spPr>
          <a:xfrm>
            <a:off x="3649218" y="1711643"/>
            <a:ext cx="57607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Response</a:t>
            </a:r>
            <a:b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Generation</a:t>
            </a:r>
            <a:endParaRPr/>
          </a:p>
        </p:txBody>
      </p:sp>
      <p:sp>
        <p:nvSpPr>
          <p:cNvPr id="297" name="Google Shape;297;p44"/>
          <p:cNvSpPr txBox="1"/>
          <p:nvPr/>
        </p:nvSpPr>
        <p:spPr>
          <a:xfrm>
            <a:off x="1102614" y="1814513"/>
            <a:ext cx="548640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User Input</a:t>
            </a:r>
            <a:endParaRPr/>
          </a:p>
        </p:txBody>
      </p:sp>
      <p:sp>
        <p:nvSpPr>
          <p:cNvPr id="298" name="Google Shape;298;p44"/>
          <p:cNvSpPr txBox="1"/>
          <p:nvPr/>
        </p:nvSpPr>
        <p:spPr>
          <a:xfrm>
            <a:off x="7482078" y="1368743"/>
            <a:ext cx="59131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Reminder</a:t>
            </a:r>
            <a:b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Scheduling</a:t>
            </a:r>
            <a:endParaRPr/>
          </a:p>
        </p:txBody>
      </p:sp>
      <p:sp>
        <p:nvSpPr>
          <p:cNvPr id="299" name="Google Shape;299;p44"/>
          <p:cNvSpPr txBox="1"/>
          <p:nvPr/>
        </p:nvSpPr>
        <p:spPr>
          <a:xfrm>
            <a:off x="1322070" y="3431857"/>
            <a:ext cx="10972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300" name="Google Shape;300;p44"/>
          <p:cNvSpPr txBox="1"/>
          <p:nvPr/>
        </p:nvSpPr>
        <p:spPr>
          <a:xfrm>
            <a:off x="2602230" y="3431857"/>
            <a:ext cx="10972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301" name="Google Shape;301;p44"/>
          <p:cNvSpPr txBox="1"/>
          <p:nvPr/>
        </p:nvSpPr>
        <p:spPr>
          <a:xfrm>
            <a:off x="3882390" y="3431857"/>
            <a:ext cx="10972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302" name="Google Shape;302;p44"/>
          <p:cNvSpPr txBox="1"/>
          <p:nvPr/>
        </p:nvSpPr>
        <p:spPr>
          <a:xfrm>
            <a:off x="5162550" y="3431857"/>
            <a:ext cx="10972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303" name="Google Shape;303;p44"/>
          <p:cNvSpPr txBox="1"/>
          <p:nvPr/>
        </p:nvSpPr>
        <p:spPr>
          <a:xfrm>
            <a:off x="6442710" y="3431857"/>
            <a:ext cx="10972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304" name="Google Shape;304;p44"/>
          <p:cNvSpPr txBox="1"/>
          <p:nvPr/>
        </p:nvSpPr>
        <p:spPr>
          <a:xfrm>
            <a:off x="7722870" y="3431857"/>
            <a:ext cx="10972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/>
          </a:p>
        </p:txBody>
      </p:sp>
      <p:sp>
        <p:nvSpPr>
          <p:cNvPr id="305" name="Google Shape;305;p44"/>
          <p:cNvSpPr txBox="1"/>
          <p:nvPr/>
        </p:nvSpPr>
        <p:spPr>
          <a:xfrm>
            <a:off x="941070" y="3871913"/>
            <a:ext cx="87172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User Interaction</a:t>
            </a:r>
            <a:b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Layer</a:t>
            </a:r>
            <a:endParaRPr/>
          </a:p>
        </p:txBody>
      </p:sp>
      <p:sp>
        <p:nvSpPr>
          <p:cNvPr id="306" name="Google Shape;306;p44"/>
          <p:cNvSpPr txBox="1"/>
          <p:nvPr/>
        </p:nvSpPr>
        <p:spPr>
          <a:xfrm>
            <a:off x="2124456" y="3871913"/>
            <a:ext cx="106527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Adherence Analysis</a:t>
            </a:r>
            <a:b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Agent</a:t>
            </a:r>
            <a:endParaRPr/>
          </a:p>
        </p:txBody>
      </p:sp>
      <p:sp>
        <p:nvSpPr>
          <p:cNvPr id="307" name="Google Shape;307;p44"/>
          <p:cNvSpPr txBox="1"/>
          <p:nvPr/>
        </p:nvSpPr>
        <p:spPr>
          <a:xfrm>
            <a:off x="3422142" y="3871913"/>
            <a:ext cx="103022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Action &amp; Response</a:t>
            </a:r>
            <a:b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Agent</a:t>
            </a:r>
            <a:endParaRPr/>
          </a:p>
        </p:txBody>
      </p:sp>
      <p:sp>
        <p:nvSpPr>
          <p:cNvPr id="308" name="Google Shape;308;p44"/>
          <p:cNvSpPr txBox="1"/>
          <p:nvPr/>
        </p:nvSpPr>
        <p:spPr>
          <a:xfrm>
            <a:off x="4714494" y="3871913"/>
            <a:ext cx="10058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Adherence History</a:t>
            </a:r>
            <a:b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Storage</a:t>
            </a:r>
            <a:endParaRPr/>
          </a:p>
        </p:txBody>
      </p:sp>
      <p:sp>
        <p:nvSpPr>
          <p:cNvPr id="309" name="Google Shape;309;p44"/>
          <p:cNvSpPr txBox="1"/>
          <p:nvPr/>
        </p:nvSpPr>
        <p:spPr>
          <a:xfrm>
            <a:off x="6019038" y="3871913"/>
            <a:ext cx="95707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Optional Retrieval</a:t>
            </a:r>
            <a:b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Flow</a:t>
            </a:r>
            <a:endParaRPr/>
          </a:p>
        </p:txBody>
      </p:sp>
      <p:sp>
        <p:nvSpPr>
          <p:cNvPr id="310" name="Google Shape;310;p44"/>
          <p:cNvSpPr txBox="1"/>
          <p:nvPr/>
        </p:nvSpPr>
        <p:spPr>
          <a:xfrm>
            <a:off x="2358390" y="1574483"/>
            <a:ext cx="597408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AI Analysis</a:t>
            </a:r>
            <a:endParaRPr/>
          </a:p>
        </p:txBody>
      </p:sp>
      <p:sp>
        <p:nvSpPr>
          <p:cNvPr id="311" name="Google Shape;311;p44"/>
          <p:cNvSpPr txBox="1"/>
          <p:nvPr/>
        </p:nvSpPr>
        <p:spPr>
          <a:xfrm>
            <a:off x="1605534" y="1065847"/>
            <a:ext cx="5943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484848"/>
                </a:solidFill>
                <a:latin typeface="Roboto"/>
                <a:ea typeface="Roboto"/>
                <a:cs typeface="Roboto"/>
                <a:sym typeface="Roboto"/>
              </a:rPr>
              <a:t>AI-Assisted Medication Adherence Monitoring – End-to-End Workflow</a:t>
            </a:r>
            <a:endParaRPr/>
          </a:p>
        </p:txBody>
      </p:sp>
      <p:sp>
        <p:nvSpPr>
          <p:cNvPr id="312" name="Google Shape;312;p44"/>
          <p:cNvSpPr txBox="1"/>
          <p:nvPr/>
        </p:nvSpPr>
        <p:spPr>
          <a:xfrm>
            <a:off x="1665925" y="254450"/>
            <a:ext cx="54915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Technical flow diagram - Architecture blueprint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5"/>
          <p:cNvSpPr/>
          <p:nvPr/>
        </p:nvSpPr>
        <p:spPr>
          <a:xfrm>
            <a:off x="403192" y="242429"/>
            <a:ext cx="4431697" cy="336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600"/>
              <a:buFont typeface="Times New Roman"/>
              <a:buNone/>
            </a:pPr>
            <a:r>
              <a:rPr b="1" i="0" lang="en" sz="18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Langflow component Used 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45"/>
          <p:cNvSpPr/>
          <p:nvPr/>
        </p:nvSpPr>
        <p:spPr>
          <a:xfrm>
            <a:off x="1698248" y="5088433"/>
            <a:ext cx="1605558" cy="168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45"/>
          <p:cNvSpPr/>
          <p:nvPr/>
        </p:nvSpPr>
        <p:spPr>
          <a:xfrm>
            <a:off x="1336953" y="5325160"/>
            <a:ext cx="2328149" cy="548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45"/>
          <p:cNvSpPr/>
          <p:nvPr/>
        </p:nvSpPr>
        <p:spPr>
          <a:xfrm>
            <a:off x="4299287" y="5088433"/>
            <a:ext cx="1345436" cy="168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45"/>
          <p:cNvSpPr/>
          <p:nvPr/>
        </p:nvSpPr>
        <p:spPr>
          <a:xfrm>
            <a:off x="3807976" y="5325160"/>
            <a:ext cx="2328149" cy="548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45"/>
          <p:cNvSpPr/>
          <p:nvPr/>
        </p:nvSpPr>
        <p:spPr>
          <a:xfrm>
            <a:off x="6770311" y="5088433"/>
            <a:ext cx="1345436" cy="168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45"/>
          <p:cNvSpPr/>
          <p:nvPr/>
        </p:nvSpPr>
        <p:spPr>
          <a:xfrm>
            <a:off x="6278999" y="5325160"/>
            <a:ext cx="2328149" cy="548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45"/>
          <p:cNvSpPr txBox="1"/>
          <p:nvPr/>
        </p:nvSpPr>
        <p:spPr>
          <a:xfrm>
            <a:off x="466350" y="790125"/>
            <a:ext cx="6618000" cy="43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 Input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 (Analysis Agent)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 (Memory &amp; Action Agent)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Astra DB (Vector Store – Documents)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Astra DB (Vector Store – Adherence History)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Utility Tool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Medication Reminder Tool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 Output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5" name="Google Shape;32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48" y="4736638"/>
            <a:ext cx="8640305" cy="23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"/>
          <p:cNvSpPr txBox="1"/>
          <p:nvPr/>
        </p:nvSpPr>
        <p:spPr>
          <a:xfrm>
            <a:off x="629084" y="150554"/>
            <a:ext cx="3513052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Screenshot 1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48" y="4736638"/>
            <a:ext cx="8640305" cy="232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49203"/>
            <a:ext cx="8839198" cy="3622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7"/>
          <p:cNvSpPr txBox="1"/>
          <p:nvPr/>
        </p:nvSpPr>
        <p:spPr>
          <a:xfrm>
            <a:off x="798990" y="104216"/>
            <a:ext cx="4099997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Screenshot 2</a:t>
            </a:r>
            <a:endParaRPr sz="1100"/>
          </a:p>
        </p:txBody>
      </p:sp>
      <p:pic>
        <p:nvPicPr>
          <p:cNvPr id="338" name="Google Shape;33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48" y="4736638"/>
            <a:ext cx="8640305" cy="232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02865"/>
            <a:ext cx="8839199" cy="3107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8"/>
          <p:cNvSpPr txBox="1"/>
          <p:nvPr/>
        </p:nvSpPr>
        <p:spPr>
          <a:xfrm>
            <a:off x="798990" y="104216"/>
            <a:ext cx="4100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Screenshot </a:t>
            </a:r>
            <a:r>
              <a:rPr b="1" lang="en" sz="1800"/>
              <a:t>3</a:t>
            </a:r>
            <a:endParaRPr sz="1100"/>
          </a:p>
        </p:txBody>
      </p:sp>
      <p:pic>
        <p:nvPicPr>
          <p:cNvPr id="345" name="Google Shape;34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48" y="4736638"/>
            <a:ext cx="8640306" cy="232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5725" y="602816"/>
            <a:ext cx="7272544" cy="3981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9"/>
          <p:cNvSpPr txBox="1"/>
          <p:nvPr/>
        </p:nvSpPr>
        <p:spPr>
          <a:xfrm>
            <a:off x="798990" y="104216"/>
            <a:ext cx="3945538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Screenshot 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48" y="4736638"/>
            <a:ext cx="8640305" cy="232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9"/>
          <p:cNvPicPr preferRelativeResize="0"/>
          <p:nvPr/>
        </p:nvPicPr>
        <p:blipFill rotWithShape="1">
          <a:blip r:embed="rId4">
            <a:alphaModFix/>
          </a:blip>
          <a:srcRect b="0" l="9400" r="-9399" t="0"/>
          <a:stretch/>
        </p:blipFill>
        <p:spPr>
          <a:xfrm>
            <a:off x="799000" y="602877"/>
            <a:ext cx="7286441" cy="3981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0"/>
          <p:cNvSpPr/>
          <p:nvPr/>
        </p:nvSpPr>
        <p:spPr>
          <a:xfrm>
            <a:off x="914043" y="315547"/>
            <a:ext cx="4833372" cy="528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600"/>
              <a:buFont typeface="Times New Roman"/>
              <a:buNone/>
            </a:pPr>
            <a:r>
              <a:rPr b="1" i="0" lang="en" sz="26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b="1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50"/>
          <p:cNvSpPr/>
          <p:nvPr/>
        </p:nvSpPr>
        <p:spPr>
          <a:xfrm>
            <a:off x="962049" y="1045460"/>
            <a:ext cx="6910935" cy="3207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wearable and mobile health apps</a:t>
            </a:r>
            <a:br>
              <a:rPr lang="en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Personalized adherence insights</a:t>
            </a:r>
            <a:br>
              <a:rPr lang="en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Multi-language support</a:t>
            </a:r>
            <a:br>
              <a:rPr lang="en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Analytics dashboard for healthcare teams</a:t>
            </a:r>
            <a:br>
              <a:rPr lang="en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calendar systems (Google / Outlook)</a:t>
            </a:r>
            <a:br>
              <a:rPr lang="en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patient identity management</a:t>
            </a:r>
            <a:endParaRPr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50"/>
          <p:cNvSpPr/>
          <p:nvPr/>
        </p:nvSpPr>
        <p:spPr>
          <a:xfrm>
            <a:off x="914043" y="2520162"/>
            <a:ext cx="5601415" cy="57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50"/>
          <p:cNvSpPr/>
          <p:nvPr/>
        </p:nvSpPr>
        <p:spPr>
          <a:xfrm>
            <a:off x="914043" y="3296598"/>
            <a:ext cx="5601415" cy="57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p50"/>
          <p:cNvSpPr/>
          <p:nvPr/>
        </p:nvSpPr>
        <p:spPr>
          <a:xfrm>
            <a:off x="914043" y="4073035"/>
            <a:ext cx="5601415" cy="287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3" name="Google Shape;36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48" y="4736638"/>
            <a:ext cx="8640305" cy="23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1"/>
          <p:cNvSpPr/>
          <p:nvPr/>
        </p:nvSpPr>
        <p:spPr>
          <a:xfrm>
            <a:off x="914043" y="315547"/>
            <a:ext cx="4833372" cy="528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600"/>
              <a:buFont typeface="Times New Roman"/>
              <a:buNone/>
            </a:pPr>
            <a:r>
              <a:rPr b="1" i="0" lang="en" sz="26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b="1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51"/>
          <p:cNvSpPr/>
          <p:nvPr/>
        </p:nvSpPr>
        <p:spPr>
          <a:xfrm>
            <a:off x="962049" y="1045460"/>
            <a:ext cx="6910935" cy="3207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https://github.com/NitinHarsur/Medication_Adherence.git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0" name="Google Shape;370;p51"/>
          <p:cNvSpPr/>
          <p:nvPr/>
        </p:nvSpPr>
        <p:spPr>
          <a:xfrm>
            <a:off x="914043" y="3296598"/>
            <a:ext cx="5601415" cy="57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51"/>
          <p:cNvSpPr/>
          <p:nvPr/>
        </p:nvSpPr>
        <p:spPr>
          <a:xfrm>
            <a:off x="914043" y="4073035"/>
            <a:ext cx="5601415" cy="287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2" name="Google Shape;37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48" y="4736638"/>
            <a:ext cx="8640305" cy="23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2"/>
          <p:cNvSpPr/>
          <p:nvPr/>
        </p:nvSpPr>
        <p:spPr>
          <a:xfrm>
            <a:off x="914043" y="315547"/>
            <a:ext cx="4833372" cy="528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52"/>
          <p:cNvSpPr/>
          <p:nvPr/>
        </p:nvSpPr>
        <p:spPr>
          <a:xfrm>
            <a:off x="962049" y="1045460"/>
            <a:ext cx="6910935" cy="3207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watsonx.ai Documentation</a:t>
            </a:r>
            <a:br>
              <a:rPr lang="en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LangFlow Official Documentation</a:t>
            </a:r>
            <a:br>
              <a:rPr lang="en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Astra DB Vector Store Documentation</a:t>
            </a:r>
            <a:br>
              <a:rPr lang="en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52"/>
          <p:cNvSpPr/>
          <p:nvPr/>
        </p:nvSpPr>
        <p:spPr>
          <a:xfrm>
            <a:off x="914043" y="2520162"/>
            <a:ext cx="5601415" cy="57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52"/>
          <p:cNvSpPr/>
          <p:nvPr/>
        </p:nvSpPr>
        <p:spPr>
          <a:xfrm>
            <a:off x="914043" y="3296598"/>
            <a:ext cx="5601415" cy="57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52"/>
          <p:cNvSpPr/>
          <p:nvPr/>
        </p:nvSpPr>
        <p:spPr>
          <a:xfrm>
            <a:off x="914043" y="4073035"/>
            <a:ext cx="5601415" cy="287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2" name="Google Shape;38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48" y="4736638"/>
            <a:ext cx="8640305" cy="23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42727"/>
            <a:ext cx="9144000" cy="185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848" y="4736638"/>
            <a:ext cx="8640305" cy="23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